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ctr"/>
            <a:r>
              <a:rPr sz="3000" b="1">
                <a:solidFill>
                  <a:srgbClr val="1E2761"/>
                </a:solidFill>
                <a:latin typeface="Tahoma"/>
              </a:rPr>
              <a:t>برنامه درآمدی دیدیمون ۱۴۰۵</a:t>
            </a:r>
          </a:p>
        </p:txBody>
      </p:sp>
      <p:sp>
        <p:nvSpPr>
          <p:cNvPr id="3" name="Rectangle 2"/>
          <p:cNvSpPr/>
          <p:nvPr/>
        </p:nvSpPr>
        <p:spPr>
          <a:xfrm>
            <a:off x="6245352" y="1234440"/>
            <a:ext cx="5486400" cy="5349240"/>
          </a:xfrm>
          <a:prstGeom prst="rect">
            <a:avLst/>
          </a:prstGeom>
          <a:solidFill>
            <a:srgbClr val="F0F2F7"/>
          </a:solidFill>
          <a:ln w="12700">
            <a:solidFill>
              <a:srgbClr val="3C4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245352" y="1234440"/>
            <a:ext cx="5486400" cy="502920"/>
          </a:xfrm>
          <a:prstGeom prst="rect">
            <a:avLst/>
          </a:prstGeom>
          <a:solidFill>
            <a:srgbClr val="3C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نسخه فعلی (پیشنهاد CEO)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هدف: رشد پایدار درآمد و تنوع‌بخشی به منابع درآمدی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5349240"/>
          </a:xfrm>
          <a:prstGeom prst="rect">
            <a:avLst/>
          </a:prstGeom>
          <a:solidFill>
            <a:srgbClr val="ECF5EC"/>
          </a:solidFill>
          <a:ln w="12700">
            <a:solidFill>
              <a:srgbClr val="2C6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50292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پیشنهاد PM (Reality Check)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هدف صحیح، روش نیاز به بازنگری دارد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اعداد baseline اصلاحی، ظرفیت تیم realistic، سناریو با lever مشخص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خروجی: پلن executable با ۴ نفر فعلی + restoration trigger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ctr"/>
            <a:r>
              <a:rPr sz="3000" b="1">
                <a:solidFill>
                  <a:srgbClr val="1E2761"/>
                </a:solidFill>
                <a:latin typeface="Tahoma"/>
              </a:rPr>
              <a:t>وضعیت فعلی</a:t>
            </a:r>
          </a:p>
        </p:txBody>
      </p:sp>
      <p:sp>
        <p:nvSpPr>
          <p:cNvPr id="3" name="Rectangle 2"/>
          <p:cNvSpPr/>
          <p:nvPr/>
        </p:nvSpPr>
        <p:spPr>
          <a:xfrm>
            <a:off x="6245352" y="1234440"/>
            <a:ext cx="5486400" cy="5349240"/>
          </a:xfrm>
          <a:prstGeom prst="rect">
            <a:avLst/>
          </a:prstGeom>
          <a:solidFill>
            <a:srgbClr val="F0F2F7"/>
          </a:solidFill>
          <a:ln w="12700">
            <a:solidFill>
              <a:srgbClr val="3C4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245352" y="1234440"/>
            <a:ext cx="5486400" cy="502920"/>
          </a:xfrm>
          <a:prstGeom prst="rect">
            <a:avLst/>
          </a:prstGeom>
          <a:solidFill>
            <a:srgbClr val="3C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نسخه فعلی (پیشنهاد CEO)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۱.۲ میلیون نصب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۸۰ هزار MAU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۲۵ هزار DAU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۲۵ میلیون دقیقه واچ‌تایم ماهانه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5349240"/>
          </a:xfrm>
          <a:prstGeom prst="rect">
            <a:avLst/>
          </a:prstGeom>
          <a:solidFill>
            <a:srgbClr val="ECF5EC"/>
          </a:solidFill>
          <a:ln w="12700">
            <a:solidFill>
              <a:srgbClr val="2C6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50292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پیشنهاد PM (Reality Check)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نصب: cumulative — نیاز به تأیید منبع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MAU واقعی: ۳۳ هزار (Q4 peak، ClickHouse)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DAU واقعی: ۳.۸ هزار (Mar 2026، best ماه)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Watch-time واقعی: ۵.۲ میلیون دقیقه (Aug، best)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⚠ تفاوت ۲× تا ۷× — unification definition قبل از سناریو لازم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ctr"/>
            <a:r>
              <a:rPr sz="3000" b="1">
                <a:solidFill>
                  <a:srgbClr val="1E2761"/>
                </a:solidFill>
                <a:latin typeface="Tahoma"/>
              </a:rPr>
              <a:t>چالش مدل فعلی</a:t>
            </a:r>
          </a:p>
        </p:txBody>
      </p:sp>
      <p:sp>
        <p:nvSpPr>
          <p:cNvPr id="3" name="Rectangle 2"/>
          <p:cNvSpPr/>
          <p:nvPr/>
        </p:nvSpPr>
        <p:spPr>
          <a:xfrm>
            <a:off x="6245352" y="1234440"/>
            <a:ext cx="5486400" cy="5349240"/>
          </a:xfrm>
          <a:prstGeom prst="rect">
            <a:avLst/>
          </a:prstGeom>
          <a:solidFill>
            <a:srgbClr val="F0F2F7"/>
          </a:solidFill>
          <a:ln w="12700">
            <a:solidFill>
              <a:srgbClr val="3C4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245352" y="1234440"/>
            <a:ext cx="5486400" cy="502920"/>
          </a:xfrm>
          <a:prstGeom prst="rect">
            <a:avLst/>
          </a:prstGeom>
          <a:solidFill>
            <a:srgbClr val="3C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نسخه فعلی (پیشنهاد CEO)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وابستگی به ترافیک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نیاز به افزایش درآمد مستقیم و مقیاس‌پذیر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5349240"/>
          </a:xfrm>
          <a:prstGeom prst="rect">
            <a:avLst/>
          </a:prstGeom>
          <a:solidFill>
            <a:srgbClr val="ECF5EC"/>
          </a:solidFill>
          <a:ln w="12700">
            <a:solidFill>
              <a:srgbClr val="2C6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50292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پیشنهاد PM (Reality Check)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✓ تشخیص درست (۹۹٪ revenue از B2B)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مسیر سریع‌تر = scale همان stream موجود (ISP + B2B)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stream جدید نیازمند tech development است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بدون restoration تیم، diversification = wishful thinking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ctr"/>
            <a:r>
              <a:rPr sz="3000" b="1">
                <a:solidFill>
                  <a:srgbClr val="1E2761"/>
                </a:solidFill>
                <a:latin typeface="Tahoma"/>
              </a:rPr>
              <a:t>معماری درآمدی</a:t>
            </a:r>
          </a:p>
        </p:txBody>
      </p:sp>
      <p:sp>
        <p:nvSpPr>
          <p:cNvPr id="3" name="Rectangle 2"/>
          <p:cNvSpPr/>
          <p:nvPr/>
        </p:nvSpPr>
        <p:spPr>
          <a:xfrm>
            <a:off x="6245352" y="1234440"/>
            <a:ext cx="5486400" cy="5349240"/>
          </a:xfrm>
          <a:prstGeom prst="rect">
            <a:avLst/>
          </a:prstGeom>
          <a:solidFill>
            <a:srgbClr val="F0F2F7"/>
          </a:solidFill>
          <a:ln w="12700">
            <a:solidFill>
              <a:srgbClr val="3C4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245352" y="1234440"/>
            <a:ext cx="5486400" cy="502920"/>
          </a:xfrm>
          <a:prstGeom prst="rect">
            <a:avLst/>
          </a:prstGeom>
          <a:solidFill>
            <a:srgbClr val="3C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نسخه فعلی (پیشنهاد CEO)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فروش ترافیک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اشتراک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دی‌کوین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تبلیغات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آسمون B2C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B2B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5349240"/>
          </a:xfrm>
          <a:prstGeom prst="rect">
            <a:avLst/>
          </a:prstGeom>
          <a:solidFill>
            <a:srgbClr val="ECF5EC"/>
          </a:solidFill>
          <a:ln w="12700">
            <a:solidFill>
              <a:srgbClr val="2C6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50292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پیشنهاد PM (Reality Check)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✓ ISP — قابل scale، بدون tech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⚠ اشتراک — فقط tweak admin قابل اجرا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✗ دی‌کوین — feature work، deferred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⚠ تبلیغات — sales ممکن، integration نه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✗ آسمون B2C — heavy feature، deferred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✓ B2B — قابل scale، بدون tech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نتیجه: ۲ از ۶ stream در ۱۴۰۵ قابل اجرا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ctr"/>
            <a:r>
              <a:rPr sz="3000" b="1">
                <a:solidFill>
                  <a:srgbClr val="1E2761"/>
                </a:solidFill>
                <a:latin typeface="Tahoma"/>
              </a:rPr>
              <a:t>اشتراک دیدیمون پلاس</a:t>
            </a:r>
          </a:p>
        </p:txBody>
      </p:sp>
      <p:sp>
        <p:nvSpPr>
          <p:cNvPr id="3" name="Rectangle 2"/>
          <p:cNvSpPr/>
          <p:nvPr/>
        </p:nvSpPr>
        <p:spPr>
          <a:xfrm>
            <a:off x="6245352" y="1234440"/>
            <a:ext cx="5486400" cy="5349240"/>
          </a:xfrm>
          <a:prstGeom prst="rect">
            <a:avLst/>
          </a:prstGeom>
          <a:solidFill>
            <a:srgbClr val="F0F2F7"/>
          </a:solidFill>
          <a:ln w="12700">
            <a:solidFill>
              <a:srgbClr val="3C4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245352" y="1234440"/>
            <a:ext cx="5486400" cy="502920"/>
          </a:xfrm>
          <a:prstGeom prst="rect">
            <a:avLst/>
          </a:prstGeom>
          <a:solidFill>
            <a:srgbClr val="3C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نسخه فعلی (پیشنهاد CEO)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بسته‌های متنوع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مزایای VIP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محتوای اختصاصی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5349240"/>
          </a:xfrm>
          <a:prstGeom prst="rect">
            <a:avLst/>
          </a:prstGeom>
          <a:solidFill>
            <a:srgbClr val="ECF5EC"/>
          </a:solidFill>
          <a:ln w="12700">
            <a:solidFill>
              <a:srgbClr val="2C6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50292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پیشنهاد PM (Reality Check)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✓ بسته‌ها: از admin قابل تغییر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✗ VIP: feature work — deferred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✓ محتوای اختصاصی: تیم content موجود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Plan 32 case: ۱M Toman، ۱۳ user، ARPPU ۲۰×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→ قابل scale از BD outreach (بدون feature جدید)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ctr"/>
            <a:r>
              <a:rPr sz="3000" b="1">
                <a:solidFill>
                  <a:srgbClr val="1E2761"/>
                </a:solidFill>
                <a:latin typeface="Tahoma"/>
              </a:rPr>
              <a:t>اقتصاد دی‌کوین</a:t>
            </a:r>
          </a:p>
        </p:txBody>
      </p:sp>
      <p:sp>
        <p:nvSpPr>
          <p:cNvPr id="3" name="Rectangle 2"/>
          <p:cNvSpPr/>
          <p:nvPr/>
        </p:nvSpPr>
        <p:spPr>
          <a:xfrm>
            <a:off x="6245352" y="1234440"/>
            <a:ext cx="5486400" cy="5349240"/>
          </a:xfrm>
          <a:prstGeom prst="rect">
            <a:avLst/>
          </a:prstGeom>
          <a:solidFill>
            <a:srgbClr val="F0F2F7"/>
          </a:solidFill>
          <a:ln w="12700">
            <a:solidFill>
              <a:srgbClr val="3C4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245352" y="1234440"/>
            <a:ext cx="5486400" cy="502920"/>
          </a:xfrm>
          <a:prstGeom prst="rect">
            <a:avLst/>
          </a:prstGeom>
          <a:solidFill>
            <a:srgbClr val="3C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نسخه فعلی (پیشنهاد CEO)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فروش بسته‌های دی‌کوین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باندل اشتراک + دی‌کوین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افزایش تراکنش‌ها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5349240"/>
          </a:xfrm>
          <a:prstGeom prst="rect">
            <a:avLst/>
          </a:prstGeom>
          <a:solidFill>
            <a:srgbClr val="ECF5EC"/>
          </a:solidFill>
          <a:ln w="12700">
            <a:solidFill>
              <a:srgbClr val="2C6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50292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پیشنهاد PM (Reality Check)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adoption موجود unknown — هیچ baseline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✗ بسته جدید: product work — deferred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⚠ باندل: pricing از admin OK، asset marketing نه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بدون adoption baseline = guesswork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اولویت قبل از scale: اندازه‌گیری استفاده فعلی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ctr"/>
            <a:r>
              <a:rPr sz="3000" b="1">
                <a:solidFill>
                  <a:srgbClr val="1E2761"/>
                </a:solidFill>
                <a:latin typeface="Tahoma"/>
              </a:rPr>
              <a:t>تبلیغات نوجوان</a:t>
            </a:r>
          </a:p>
        </p:txBody>
      </p:sp>
      <p:sp>
        <p:nvSpPr>
          <p:cNvPr id="3" name="Rectangle 2"/>
          <p:cNvSpPr/>
          <p:nvPr/>
        </p:nvSpPr>
        <p:spPr>
          <a:xfrm>
            <a:off x="6245352" y="1234440"/>
            <a:ext cx="5486400" cy="5349240"/>
          </a:xfrm>
          <a:prstGeom prst="rect">
            <a:avLst/>
          </a:prstGeom>
          <a:solidFill>
            <a:srgbClr val="F0F2F7"/>
          </a:solidFill>
          <a:ln w="12700">
            <a:solidFill>
              <a:srgbClr val="3C4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245352" y="1234440"/>
            <a:ext cx="5486400" cy="502920"/>
          </a:xfrm>
          <a:prstGeom prst="rect">
            <a:avLst/>
          </a:prstGeom>
          <a:solidFill>
            <a:srgbClr val="3C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نسخه فعلی (پیشنهاد CEO)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اسپانسرینگ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تبلیغات ویدیویی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کمپین‌های برند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5349240"/>
          </a:xfrm>
          <a:prstGeom prst="rect">
            <a:avLst/>
          </a:prstGeom>
          <a:solidFill>
            <a:srgbClr val="ECF5EC"/>
          </a:solidFill>
          <a:ln w="12700">
            <a:solidFill>
              <a:srgbClr val="2C6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50292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پیشنهاد PM (Reality Check)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KikoMax ۱۴۰۴ = ۴۵M Toman، الان صفر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علت stop نامشخص — بررسی لازم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✓ اسپانسر + کمپین: بدون tech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✗ video ad integration: deferred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نیازمند ad sales person — capacity gap جدید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ctr"/>
            <a:r>
              <a:rPr sz="3000" b="1">
                <a:solidFill>
                  <a:srgbClr val="1E2761"/>
                </a:solidFill>
                <a:latin typeface="Tahoma"/>
              </a:rPr>
              <a:t>تجاری‌سازی آسمون</a:t>
            </a:r>
          </a:p>
        </p:txBody>
      </p:sp>
      <p:sp>
        <p:nvSpPr>
          <p:cNvPr id="3" name="Rectangle 2"/>
          <p:cNvSpPr/>
          <p:nvPr/>
        </p:nvSpPr>
        <p:spPr>
          <a:xfrm>
            <a:off x="6245352" y="1234440"/>
            <a:ext cx="5486400" cy="5349240"/>
          </a:xfrm>
          <a:prstGeom prst="rect">
            <a:avLst/>
          </a:prstGeom>
          <a:solidFill>
            <a:srgbClr val="F0F2F7"/>
          </a:solidFill>
          <a:ln w="12700">
            <a:solidFill>
              <a:srgbClr val="3C4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245352" y="1234440"/>
            <a:ext cx="5486400" cy="502920"/>
          </a:xfrm>
          <a:prstGeom prst="rect">
            <a:avLst/>
          </a:prstGeom>
          <a:solidFill>
            <a:srgbClr val="3C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نسخه فعلی (پیشنهاد CEO)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Paid Promotion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رتبه‌بندی تولیدکنندگان محتوا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کمپین‌های UGC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5349240"/>
          </a:xfrm>
          <a:prstGeom prst="rect">
            <a:avLst/>
          </a:prstGeom>
          <a:solidFill>
            <a:srgbClr val="ECF5EC"/>
          </a:solidFill>
          <a:ln w="12700">
            <a:solidFill>
              <a:srgbClr val="2C6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50292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پیشنهاد PM (Reality Check)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✗ Paid promo: product work — deferred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✗ Ranking: feature — deferred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✓ کمپین UGC: manual با reward admin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Long-tail trap: ۲۲K user، ۰ top hit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monetization per-creator حساس — طراحی دقیق لازم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ctr"/>
            <a:r>
              <a:rPr sz="3000" b="1">
                <a:solidFill>
                  <a:srgbClr val="1E2761"/>
                </a:solidFill>
                <a:latin typeface="Tahoma"/>
              </a:rPr>
              <a:t>سرویس‌های B2B</a:t>
            </a:r>
          </a:p>
        </p:txBody>
      </p:sp>
      <p:sp>
        <p:nvSpPr>
          <p:cNvPr id="3" name="Rectangle 2"/>
          <p:cNvSpPr/>
          <p:nvPr/>
        </p:nvSpPr>
        <p:spPr>
          <a:xfrm>
            <a:off x="6245352" y="1234440"/>
            <a:ext cx="5486400" cy="5349240"/>
          </a:xfrm>
          <a:prstGeom prst="rect">
            <a:avLst/>
          </a:prstGeom>
          <a:solidFill>
            <a:srgbClr val="F0F2F7"/>
          </a:solidFill>
          <a:ln w="12700">
            <a:solidFill>
              <a:srgbClr val="3C4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245352" y="1234440"/>
            <a:ext cx="5486400" cy="502920"/>
          </a:xfrm>
          <a:prstGeom prst="rect">
            <a:avLst/>
          </a:prstGeom>
          <a:solidFill>
            <a:srgbClr val="3C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نسخه فعلی (پیشنهاد CEO)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تامین محتوا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مدیریت سرویس کودک و نوجوان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کمپین‌های اختصاصی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5349240"/>
          </a:xfrm>
          <a:prstGeom prst="rect">
            <a:avLst/>
          </a:prstGeom>
          <a:solidFill>
            <a:srgbClr val="ECF5EC"/>
          </a:solidFill>
          <a:ln w="12700">
            <a:solidFill>
              <a:srgbClr val="2C6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50292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پیشنهاد PM (Reality Check)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⭐ بهترین stream برای ۱۴۰۵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Rubika ۱۴۰۴ = ۷.۳B Toman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اسفند peak تک‌ماه = ۲.۰۶B Toman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target: همراه اول، تلوبیون، فیلیمو، رایتل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اولویت ۱ سال — non-tech، high yield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نیازمند BD bandwidth — owner مشخص لازم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 algn="ctr"/>
            <a:r>
              <a:rPr sz="3000" b="1">
                <a:solidFill>
                  <a:srgbClr val="1E2761"/>
                </a:solidFill>
                <a:latin typeface="Tahoma"/>
              </a:rPr>
              <a:t>سناریوهای درآمدی</a:t>
            </a:r>
          </a:p>
        </p:txBody>
      </p:sp>
      <p:sp>
        <p:nvSpPr>
          <p:cNvPr id="3" name="Rectangle 2"/>
          <p:cNvSpPr/>
          <p:nvPr/>
        </p:nvSpPr>
        <p:spPr>
          <a:xfrm>
            <a:off x="6245352" y="1234440"/>
            <a:ext cx="5486400" cy="5349240"/>
          </a:xfrm>
          <a:prstGeom prst="rect">
            <a:avLst/>
          </a:prstGeom>
          <a:solidFill>
            <a:srgbClr val="F0F2F7"/>
          </a:solidFill>
          <a:ln w="12700">
            <a:solidFill>
              <a:srgbClr val="3C4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245352" y="1234440"/>
            <a:ext cx="5486400" cy="502920"/>
          </a:xfrm>
          <a:prstGeom prst="rect">
            <a:avLst/>
          </a:prstGeom>
          <a:solidFill>
            <a:srgbClr val="3C4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نسخه فعلی (پیشنهاد CEO)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محافظه‌کارانه: رشد ۱.۵ برابری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محتمل: رشد ۳ برابری</a:t>
            </a:r>
          </a:p>
          <a:p>
            <a:pPr rtl="1"/>
            <a:r>
              <a:rPr sz="1800" b="0">
                <a:solidFill>
                  <a:srgbClr val="222222"/>
                </a:solidFill>
                <a:latin typeface="Tahoma"/>
              </a:rPr>
              <a:t>•  تهاجمی: رشد ۵ برابری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5349240"/>
          </a:xfrm>
          <a:prstGeom prst="rect">
            <a:avLst/>
          </a:prstGeom>
          <a:solidFill>
            <a:srgbClr val="ECF5EC"/>
          </a:solidFill>
          <a:ln w="12700">
            <a:solidFill>
              <a:srgbClr val="2C6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486400" cy="502920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sz="1500" b="1">
                <a:solidFill>
                  <a:srgbClr val="FFFFFF"/>
                </a:solidFill>
                <a:latin typeface="Tahoma"/>
              </a:rPr>
              <a:t>پیشنهاد PM (Reality Check)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محافظه‌کارانه (+۲۰٪): با ISP+Rubika continuity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محتمل (+۴۰–۶۰٪): با restoration ۳ نفر در Q2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تهاجمی (+۱۰۰–۱۵۰٪): با restoration ۵–۷ نفر + invest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⚠ ۳× و ۵× در ۱۴۰۵ بدون restoration بنیادی غیرممکن</a:t>
            </a:r>
          </a:p>
          <a:p>
            <a:pPr rtl="1"/>
            <a:r>
              <a:rPr sz="1500" b="0">
                <a:solidFill>
                  <a:srgbClr val="222222"/>
                </a:solidFill>
                <a:latin typeface="Tahoma"/>
              </a:rPr>
              <a:t>•  realistic range ۱۴۰۵: ۲۸–۳۲B Toman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